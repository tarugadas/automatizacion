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Kingred Modern" charset="1" panose="00000000000000000000"/>
      <p:regular r:id="rId15"/>
    </p:embeddedFont>
    <p:embeddedFont>
      <p:font typeface="Open Sans Bold" charset="1" panose="020B0806030504020204"/>
      <p:regular r:id="rId16"/>
    </p:embeddedFont>
    <p:embeddedFont>
      <p:font typeface="Open Sans" charset="1" panose="020B0606030504020204"/>
      <p:regular r:id="rId17"/>
    </p:embeddedFont>
    <p:embeddedFont>
      <p:font typeface="Sloop Script Pro" charset="1" panose="0000000000000009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1910" y="2746286"/>
            <a:ext cx="15114836" cy="482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8000" spc="704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DESARROLLO DE LA FUNCIONALIDAD “GESTIÓN DE PERFILES DE USUARIO”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509229" y="7331421"/>
            <a:ext cx="19557114" cy="3789191"/>
          </a:xfrm>
          <a:custGeom>
            <a:avLst/>
            <a:gdLst/>
            <a:ahLst/>
            <a:cxnLst/>
            <a:rect r="r" b="b" t="t" l="l"/>
            <a:pathLst>
              <a:path h="3789191" w="19557114">
                <a:moveTo>
                  <a:pt x="0" y="3789191"/>
                </a:moveTo>
                <a:lnTo>
                  <a:pt x="19557114" y="3789191"/>
                </a:lnTo>
                <a:lnTo>
                  <a:pt x="19557114" y="0"/>
                </a:lnTo>
                <a:lnTo>
                  <a:pt x="0" y="0"/>
                </a:lnTo>
                <a:lnTo>
                  <a:pt x="0" y="3789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09229" y="-665235"/>
            <a:ext cx="19557114" cy="3789191"/>
          </a:xfrm>
          <a:custGeom>
            <a:avLst/>
            <a:gdLst/>
            <a:ahLst/>
            <a:cxnLst/>
            <a:rect r="r" b="b" t="t" l="l"/>
            <a:pathLst>
              <a:path h="3789191" w="19557114">
                <a:moveTo>
                  <a:pt x="19557114" y="0"/>
                </a:moveTo>
                <a:lnTo>
                  <a:pt x="0" y="0"/>
                </a:lnTo>
                <a:lnTo>
                  <a:pt x="0" y="3789190"/>
                </a:lnTo>
                <a:lnTo>
                  <a:pt x="19557114" y="3789190"/>
                </a:lnTo>
                <a:lnTo>
                  <a:pt x="195571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2068"/>
            <a:ext cx="4756684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302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Presentado por: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9893"/>
            <a:ext cx="4756684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Viktor Hernández,</a:t>
            </a:r>
          </a:p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Christopher Soto </a:t>
            </a:r>
          </a:p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Efren Gomez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2589" y="1028700"/>
            <a:ext cx="13302822" cy="303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5"/>
              </a:lnSpc>
            </a:pPr>
            <a:r>
              <a:rPr lang="en-US" sz="10004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ROLES DEL EQUIPO 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86354" y="4142384"/>
            <a:ext cx="10315292" cy="490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El equipo Scrum estuvo compuesto por Viktor como Scrum Master, Chris como Product Owner y Efren como Development Team. Esta distribución permitió claridad en las responsabilidades, comunicación constante y coordinación efectiva durante todo el sprint.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421607" y="2892500"/>
            <a:ext cx="6940617" cy="20062152"/>
            <a:chOff x="0" y="0"/>
            <a:chExt cx="1827981" cy="5283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7981" cy="5283859"/>
            </a:xfrm>
            <a:custGeom>
              <a:avLst/>
              <a:gdLst/>
              <a:ahLst/>
              <a:cxnLst/>
              <a:rect r="r" b="b" t="t" l="l"/>
              <a:pathLst>
                <a:path h="5283859" w="1827981">
                  <a:moveTo>
                    <a:pt x="0" y="0"/>
                  </a:moveTo>
                  <a:lnTo>
                    <a:pt x="1827981" y="0"/>
                  </a:lnTo>
                  <a:lnTo>
                    <a:pt x="1827981" y="5283859"/>
                  </a:lnTo>
                  <a:lnTo>
                    <a:pt x="0" y="528385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27981" cy="533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5797193" y="-12805126"/>
            <a:ext cx="2431375" cy="24933559"/>
            <a:chOff x="0" y="0"/>
            <a:chExt cx="640362" cy="6566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362" cy="6566864"/>
            </a:xfrm>
            <a:custGeom>
              <a:avLst/>
              <a:gdLst/>
              <a:ahLst/>
              <a:cxnLst/>
              <a:rect r="r" b="b" t="t" l="l"/>
              <a:pathLst>
                <a:path h="6566864" w="640362">
                  <a:moveTo>
                    <a:pt x="0" y="0"/>
                  </a:moveTo>
                  <a:lnTo>
                    <a:pt x="640362" y="0"/>
                  </a:lnTo>
                  <a:lnTo>
                    <a:pt x="640362" y="6566864"/>
                  </a:lnTo>
                  <a:lnTo>
                    <a:pt x="0" y="6566864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40362" cy="661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6450" y="-656380"/>
            <a:ext cx="18885647" cy="4303989"/>
            <a:chOff x="0" y="0"/>
            <a:chExt cx="25180863" cy="573865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7210" r="0" b="27210"/>
            <a:stretch>
              <a:fillRect/>
            </a:stretch>
          </p:blipFill>
          <p:spPr>
            <a:xfrm flipH="false" flipV="false">
              <a:off x="0" y="0"/>
              <a:ext cx="25180863" cy="5738651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51330" y="9465896"/>
            <a:ext cx="19615407" cy="3895402"/>
            <a:chOff x="0" y="0"/>
            <a:chExt cx="5166198" cy="1025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8241" y="3247140"/>
            <a:ext cx="2899314" cy="800936"/>
          </a:xfrm>
          <a:custGeom>
            <a:avLst/>
            <a:gdLst/>
            <a:ahLst/>
            <a:cxnLst/>
            <a:rect r="r" b="b" t="t" l="l"/>
            <a:pathLst>
              <a:path h="800936" w="2899314">
                <a:moveTo>
                  <a:pt x="0" y="0"/>
                </a:moveTo>
                <a:lnTo>
                  <a:pt x="2899315" y="0"/>
                </a:lnTo>
                <a:lnTo>
                  <a:pt x="2899315" y="800936"/>
                </a:lnTo>
                <a:lnTo>
                  <a:pt x="0" y="800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85366" y="9065428"/>
            <a:ext cx="2899314" cy="800936"/>
          </a:xfrm>
          <a:custGeom>
            <a:avLst/>
            <a:gdLst/>
            <a:ahLst/>
            <a:cxnLst/>
            <a:rect r="r" b="b" t="t" l="l"/>
            <a:pathLst>
              <a:path h="800936" w="2899314">
                <a:moveTo>
                  <a:pt x="0" y="0"/>
                </a:moveTo>
                <a:lnTo>
                  <a:pt x="2899314" y="0"/>
                </a:lnTo>
                <a:lnTo>
                  <a:pt x="2899314" y="800936"/>
                </a:lnTo>
                <a:lnTo>
                  <a:pt x="0" y="800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49222" y="3943350"/>
            <a:ext cx="8414302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Se eligió desarrollar la funcionalidad de gestión de perfiles de usuario para permitir a los usuarios editar, personalizar y asegurar su información personal dentro de la aplicación. Esta funcionalidad permite actualizar datos personales, cargar una fotografía de perfil y cambiar la contraseña, ofreciendo una experiencia confiable y personalizada que aumenta la satisfacción del usuario y la seguridad de la información.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12753" y="885825"/>
            <a:ext cx="7649292" cy="2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FUNCIONALIDAD SELECCIONADA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421607" y="2892500"/>
            <a:ext cx="6940617" cy="20062152"/>
            <a:chOff x="0" y="0"/>
            <a:chExt cx="1827981" cy="5283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981" cy="5283859"/>
            </a:xfrm>
            <a:custGeom>
              <a:avLst/>
              <a:gdLst/>
              <a:ahLst/>
              <a:cxnLst/>
              <a:rect r="r" b="b" t="t" l="l"/>
              <a:pathLst>
                <a:path h="5283859" w="1827981">
                  <a:moveTo>
                    <a:pt x="0" y="0"/>
                  </a:moveTo>
                  <a:lnTo>
                    <a:pt x="1827981" y="0"/>
                  </a:lnTo>
                  <a:lnTo>
                    <a:pt x="1827981" y="5283859"/>
                  </a:lnTo>
                  <a:lnTo>
                    <a:pt x="0" y="528385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7981" cy="533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797193" y="-12805126"/>
            <a:ext cx="2431375" cy="24933559"/>
            <a:chOff x="0" y="0"/>
            <a:chExt cx="640362" cy="6566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362" cy="6566864"/>
            </a:xfrm>
            <a:custGeom>
              <a:avLst/>
              <a:gdLst/>
              <a:ahLst/>
              <a:cxnLst/>
              <a:rect r="r" b="b" t="t" l="l"/>
              <a:pathLst>
                <a:path h="6566864" w="640362">
                  <a:moveTo>
                    <a:pt x="0" y="0"/>
                  </a:moveTo>
                  <a:lnTo>
                    <a:pt x="640362" y="0"/>
                  </a:lnTo>
                  <a:lnTo>
                    <a:pt x="640362" y="6566864"/>
                  </a:lnTo>
                  <a:lnTo>
                    <a:pt x="0" y="6566864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0362" cy="661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703249" y="517744"/>
            <a:ext cx="1286588" cy="1306955"/>
          </a:xfrm>
          <a:custGeom>
            <a:avLst/>
            <a:gdLst/>
            <a:ahLst/>
            <a:cxnLst/>
            <a:rect r="r" b="b" t="t" l="l"/>
            <a:pathLst>
              <a:path h="1306955" w="1286588">
                <a:moveTo>
                  <a:pt x="0" y="0"/>
                </a:moveTo>
                <a:lnTo>
                  <a:pt x="1286587" y="0"/>
                </a:lnTo>
                <a:lnTo>
                  <a:pt x="1286587" y="1306955"/>
                </a:lnTo>
                <a:lnTo>
                  <a:pt x="0" y="1306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6701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09108" y="3445990"/>
            <a:ext cx="14469783" cy="6258181"/>
          </a:xfrm>
          <a:custGeom>
            <a:avLst/>
            <a:gdLst/>
            <a:ahLst/>
            <a:cxnLst/>
            <a:rect r="r" b="b" t="t" l="l"/>
            <a:pathLst>
              <a:path h="6258181" w="14469783">
                <a:moveTo>
                  <a:pt x="0" y="0"/>
                </a:moveTo>
                <a:lnTo>
                  <a:pt x="14469784" y="0"/>
                </a:lnTo>
                <a:lnTo>
                  <a:pt x="14469784" y="6258181"/>
                </a:lnTo>
                <a:lnTo>
                  <a:pt x="0" y="6258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6336" y="1540129"/>
            <a:ext cx="13872551" cy="160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6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Se creó un Product Backlog con cinco historias de usuario, de las cuales se seleccionaron tres para el sprint. El Sprint Backlog incluyó el desglose de tareas, la asignación de responsables y la estimación de esfuerzo. El incremento final correspondió al módulo de gestión de perfil implementado y probado, listo para su liberación.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0406" y="105816"/>
            <a:ext cx="740718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150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ARTEFACTOS SCRUM UTILIZADOS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7116" y="-2710122"/>
            <a:ext cx="19615407" cy="3587462"/>
            <a:chOff x="0" y="0"/>
            <a:chExt cx="5166198" cy="9448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6198" cy="944846"/>
            </a:xfrm>
            <a:custGeom>
              <a:avLst/>
              <a:gdLst/>
              <a:ahLst/>
              <a:cxnLst/>
              <a:rect r="r" b="b" t="t" l="l"/>
              <a:pathLst>
                <a:path h="944846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944846"/>
                  </a:lnTo>
                  <a:lnTo>
                    <a:pt x="0" y="944846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66198" cy="992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16495" y="2156887"/>
            <a:ext cx="10072927" cy="7101413"/>
          </a:xfrm>
          <a:custGeom>
            <a:avLst/>
            <a:gdLst/>
            <a:ahLst/>
            <a:cxnLst/>
            <a:rect r="r" b="b" t="t" l="l"/>
            <a:pathLst>
              <a:path h="7101413" w="10072927">
                <a:moveTo>
                  <a:pt x="0" y="0"/>
                </a:moveTo>
                <a:lnTo>
                  <a:pt x="10072926" y="0"/>
                </a:lnTo>
                <a:lnTo>
                  <a:pt x="10072926" y="7101413"/>
                </a:lnTo>
                <a:lnTo>
                  <a:pt x="0" y="7101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019175"/>
            <a:ext cx="683961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EVENTOS SCRUM REALIZADOS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619375"/>
            <a:ext cx="6839616" cy="755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</a:pPr>
            <a:r>
              <a:rPr lang="en-US" sz="2699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Se realizó la Sprint Planning, donde se seleccionaron las historias críticas 1, 2 y 4, definiendo el Sprint Goal de permitir a los usuarios editar y asegurar su perfil de manera confiable. Durante los Daily Scrum se dio seguimiento diario a los avances y se resolvieron posibles impedimentos. En la Sprint Review se presentó el incremento, se validaron los criterios de aceptación y se recibió retroalimentación del Product Owner. Finalmente, en la Sprint Retrospective se reflexionó sobre los procesos, se identificaron fortalezas y oportunidades de mejora, y se definieron acciones para futuros sprints.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421607" y="2892500"/>
            <a:ext cx="6940617" cy="20062152"/>
            <a:chOff x="0" y="0"/>
            <a:chExt cx="1827981" cy="5283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981" cy="5283859"/>
            </a:xfrm>
            <a:custGeom>
              <a:avLst/>
              <a:gdLst/>
              <a:ahLst/>
              <a:cxnLst/>
              <a:rect r="r" b="b" t="t" l="l"/>
              <a:pathLst>
                <a:path h="5283859" w="1827981">
                  <a:moveTo>
                    <a:pt x="0" y="0"/>
                  </a:moveTo>
                  <a:lnTo>
                    <a:pt x="1827981" y="0"/>
                  </a:lnTo>
                  <a:lnTo>
                    <a:pt x="1827981" y="5283859"/>
                  </a:lnTo>
                  <a:lnTo>
                    <a:pt x="0" y="528385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7981" cy="533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797193" y="-12805126"/>
            <a:ext cx="2431375" cy="24933559"/>
            <a:chOff x="0" y="0"/>
            <a:chExt cx="640362" cy="6566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362" cy="6566864"/>
            </a:xfrm>
            <a:custGeom>
              <a:avLst/>
              <a:gdLst/>
              <a:ahLst/>
              <a:cxnLst/>
              <a:rect r="r" b="b" t="t" l="l"/>
              <a:pathLst>
                <a:path h="6566864" w="640362">
                  <a:moveTo>
                    <a:pt x="0" y="0"/>
                  </a:moveTo>
                  <a:lnTo>
                    <a:pt x="640362" y="0"/>
                  </a:lnTo>
                  <a:lnTo>
                    <a:pt x="640362" y="6566864"/>
                  </a:lnTo>
                  <a:lnTo>
                    <a:pt x="0" y="6566864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0362" cy="661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60846" y="1939290"/>
            <a:ext cx="11301259" cy="2881821"/>
          </a:xfrm>
          <a:custGeom>
            <a:avLst/>
            <a:gdLst/>
            <a:ahLst/>
            <a:cxnLst/>
            <a:rect r="r" b="b" t="t" l="l"/>
            <a:pathLst>
              <a:path h="2881821" w="11301259">
                <a:moveTo>
                  <a:pt x="0" y="0"/>
                </a:moveTo>
                <a:lnTo>
                  <a:pt x="11301259" y="0"/>
                </a:lnTo>
                <a:lnTo>
                  <a:pt x="11301259" y="2881821"/>
                </a:lnTo>
                <a:lnTo>
                  <a:pt x="0" y="288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60846" y="5614296"/>
            <a:ext cx="11301259" cy="2359138"/>
          </a:xfrm>
          <a:custGeom>
            <a:avLst/>
            <a:gdLst/>
            <a:ahLst/>
            <a:cxnLst/>
            <a:rect r="r" b="b" t="t" l="l"/>
            <a:pathLst>
              <a:path h="2359138" w="11301259">
                <a:moveTo>
                  <a:pt x="0" y="0"/>
                </a:moveTo>
                <a:lnTo>
                  <a:pt x="11301259" y="0"/>
                </a:lnTo>
                <a:lnTo>
                  <a:pt x="11301259" y="2359138"/>
                </a:lnTo>
                <a:lnTo>
                  <a:pt x="0" y="235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72971" y="1114425"/>
            <a:ext cx="1314205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</a:pPr>
            <a:r>
              <a:rPr lang="en-US" sz="6000" spc="192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RESULTADOS OBTENIDOS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972" y="3464560"/>
            <a:ext cx="5227565" cy="332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El incremento funcional entregado incluyó la edición de datos personales, el cambio de foto de perfil y la actualización de contraseña, cumpliendo con los objetivos del Sprint Goal. Se validó la funcionalidad según los criterios de aceptación y se documentó todo en Jira. El Product Owner proporcionó sugerencias de mejora en la interfaz y medidas adicionales de seguridad que se incorporarán en próximos sprints.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555" y="1673468"/>
            <a:ext cx="6174281" cy="6983672"/>
            <a:chOff x="0" y="0"/>
            <a:chExt cx="956558" cy="1081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6558" cy="1081954"/>
            </a:xfrm>
            <a:custGeom>
              <a:avLst/>
              <a:gdLst/>
              <a:ahLst/>
              <a:cxnLst/>
              <a:rect r="r" b="b" t="t" l="l"/>
              <a:pathLst>
                <a:path h="1081954" w="956558">
                  <a:moveTo>
                    <a:pt x="25078" y="0"/>
                  </a:moveTo>
                  <a:lnTo>
                    <a:pt x="931480" y="0"/>
                  </a:lnTo>
                  <a:cubicBezTo>
                    <a:pt x="945330" y="0"/>
                    <a:pt x="956558" y="11228"/>
                    <a:pt x="956558" y="25078"/>
                  </a:cubicBezTo>
                  <a:lnTo>
                    <a:pt x="956558" y="1056876"/>
                  </a:lnTo>
                  <a:cubicBezTo>
                    <a:pt x="956558" y="1063527"/>
                    <a:pt x="953916" y="1069905"/>
                    <a:pt x="949213" y="1074608"/>
                  </a:cubicBezTo>
                  <a:cubicBezTo>
                    <a:pt x="944509" y="1079311"/>
                    <a:pt x="938131" y="1081954"/>
                    <a:pt x="931480" y="1081954"/>
                  </a:cubicBezTo>
                  <a:lnTo>
                    <a:pt x="25078" y="1081954"/>
                  </a:lnTo>
                  <a:cubicBezTo>
                    <a:pt x="11228" y="1081954"/>
                    <a:pt x="0" y="1070726"/>
                    <a:pt x="0" y="1056876"/>
                  </a:cubicBezTo>
                  <a:lnTo>
                    <a:pt x="0" y="25078"/>
                  </a:lnTo>
                  <a:cubicBezTo>
                    <a:pt x="0" y="18427"/>
                    <a:pt x="2642" y="12048"/>
                    <a:pt x="7345" y="7345"/>
                  </a:cubicBezTo>
                  <a:cubicBezTo>
                    <a:pt x="12048" y="2642"/>
                    <a:pt x="18427" y="0"/>
                    <a:pt x="25078" y="0"/>
                  </a:cubicBezTo>
                  <a:close/>
                </a:path>
              </a:pathLst>
            </a:custGeom>
            <a:blipFill>
              <a:blip r:embed="rId2"/>
              <a:stretch>
                <a:fillRect l="-24444" t="0" r="-24444" b="0"/>
              </a:stretch>
            </a:blipFill>
            <a:ln w="104775" cap="sq">
              <a:solidFill>
                <a:srgbClr val="30220F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758704" y="2118671"/>
            <a:ext cx="8303542" cy="201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0"/>
              </a:lnSpc>
            </a:pPr>
            <a:r>
              <a:rPr lang="en-US" sz="6549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LECCIONES APRENDIDAS</a:t>
            </a: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421607" y="2892500"/>
            <a:ext cx="6940617" cy="20062152"/>
            <a:chOff x="0" y="0"/>
            <a:chExt cx="1827981" cy="5283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7981" cy="5283859"/>
            </a:xfrm>
            <a:custGeom>
              <a:avLst/>
              <a:gdLst/>
              <a:ahLst/>
              <a:cxnLst/>
              <a:rect r="r" b="b" t="t" l="l"/>
              <a:pathLst>
                <a:path h="5283859" w="1827981">
                  <a:moveTo>
                    <a:pt x="0" y="0"/>
                  </a:moveTo>
                  <a:lnTo>
                    <a:pt x="1827981" y="0"/>
                  </a:lnTo>
                  <a:lnTo>
                    <a:pt x="1827981" y="5283859"/>
                  </a:lnTo>
                  <a:lnTo>
                    <a:pt x="0" y="528385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7981" cy="533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797193" y="-12805126"/>
            <a:ext cx="2431375" cy="24933559"/>
            <a:chOff x="0" y="0"/>
            <a:chExt cx="640362" cy="6566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362" cy="6566864"/>
            </a:xfrm>
            <a:custGeom>
              <a:avLst/>
              <a:gdLst/>
              <a:ahLst/>
              <a:cxnLst/>
              <a:rect r="r" b="b" t="t" l="l"/>
              <a:pathLst>
                <a:path h="6566864" w="640362">
                  <a:moveTo>
                    <a:pt x="0" y="0"/>
                  </a:moveTo>
                  <a:lnTo>
                    <a:pt x="640362" y="0"/>
                  </a:lnTo>
                  <a:lnTo>
                    <a:pt x="640362" y="6566864"/>
                  </a:lnTo>
                  <a:lnTo>
                    <a:pt x="0" y="6566864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40362" cy="661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6099550" y="953822"/>
            <a:ext cx="1925391" cy="803124"/>
          </a:xfrm>
          <a:custGeom>
            <a:avLst/>
            <a:gdLst/>
            <a:ahLst/>
            <a:cxnLst/>
            <a:rect r="r" b="b" t="t" l="l"/>
            <a:pathLst>
              <a:path h="803124" w="1925391">
                <a:moveTo>
                  <a:pt x="0" y="0"/>
                </a:moveTo>
                <a:lnTo>
                  <a:pt x="1925391" y="0"/>
                </a:lnTo>
                <a:lnTo>
                  <a:pt x="1925391" y="803124"/>
                </a:lnTo>
                <a:lnTo>
                  <a:pt x="0" y="80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0994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4064185"/>
            <a:ext cx="7555756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Durante el sprint se destacó la comunicación constante y la coordinación efectiva, así como la claridad de los criterios de aceptación y el uso adecuado de Jira para seguimiento. Los desafíos enfrentados incluyeron la gestión del tiempo en la validación de formularios, revisiones internas limitadas y documentación técnica insuficiente en algunos puntos. Como acciones de mejora se decidió implementar revisiones internas a mitad del sprint, reforzar la estimación de esfuerzo, mejorar la documentación técnica y mantener la comunicación diaria y la participación de todos los integrantes.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23883" y="1824699"/>
            <a:ext cx="857232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CONCLUSIONES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6421607" y="2892500"/>
            <a:ext cx="6940617" cy="20062152"/>
            <a:chOff x="0" y="0"/>
            <a:chExt cx="1827981" cy="52838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7981" cy="5283859"/>
            </a:xfrm>
            <a:custGeom>
              <a:avLst/>
              <a:gdLst/>
              <a:ahLst/>
              <a:cxnLst/>
              <a:rect r="r" b="b" t="t" l="l"/>
              <a:pathLst>
                <a:path h="5283859" w="1827981">
                  <a:moveTo>
                    <a:pt x="0" y="0"/>
                  </a:moveTo>
                  <a:lnTo>
                    <a:pt x="1827981" y="0"/>
                  </a:lnTo>
                  <a:lnTo>
                    <a:pt x="1827981" y="5283859"/>
                  </a:lnTo>
                  <a:lnTo>
                    <a:pt x="0" y="5283859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27981" cy="533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5797193" y="-12805126"/>
            <a:ext cx="2431375" cy="24933559"/>
            <a:chOff x="0" y="0"/>
            <a:chExt cx="640362" cy="6566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362" cy="6566864"/>
            </a:xfrm>
            <a:custGeom>
              <a:avLst/>
              <a:gdLst/>
              <a:ahLst/>
              <a:cxnLst/>
              <a:rect r="r" b="b" t="t" l="l"/>
              <a:pathLst>
                <a:path h="6566864" w="640362">
                  <a:moveTo>
                    <a:pt x="0" y="0"/>
                  </a:moveTo>
                  <a:lnTo>
                    <a:pt x="640362" y="0"/>
                  </a:lnTo>
                  <a:lnTo>
                    <a:pt x="640362" y="6566864"/>
                  </a:lnTo>
                  <a:lnTo>
                    <a:pt x="0" y="6566864"/>
                  </a:lnTo>
                  <a:close/>
                </a:path>
              </a:pathLst>
            </a:custGeom>
            <a:solidFill>
              <a:srgbClr val="D3CAC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40362" cy="661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703249" y="517744"/>
            <a:ext cx="1286588" cy="1306955"/>
          </a:xfrm>
          <a:custGeom>
            <a:avLst/>
            <a:gdLst/>
            <a:ahLst/>
            <a:cxnLst/>
            <a:rect r="r" b="b" t="t" l="l"/>
            <a:pathLst>
              <a:path h="1306955" w="1286588">
                <a:moveTo>
                  <a:pt x="0" y="0"/>
                </a:moveTo>
                <a:lnTo>
                  <a:pt x="1286587" y="0"/>
                </a:lnTo>
                <a:lnTo>
                  <a:pt x="1286587" y="1306955"/>
                </a:lnTo>
                <a:lnTo>
                  <a:pt x="0" y="1306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6701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48444" y="436962"/>
            <a:ext cx="9413076" cy="4706538"/>
          </a:xfrm>
          <a:custGeom>
            <a:avLst/>
            <a:gdLst/>
            <a:ahLst/>
            <a:cxnLst/>
            <a:rect r="r" b="b" t="t" l="l"/>
            <a:pathLst>
              <a:path h="4706538" w="9413076">
                <a:moveTo>
                  <a:pt x="0" y="0"/>
                </a:moveTo>
                <a:lnTo>
                  <a:pt x="9413077" y="0"/>
                </a:lnTo>
                <a:lnTo>
                  <a:pt x="9413077" y="4706538"/>
                </a:lnTo>
                <a:lnTo>
                  <a:pt x="0" y="4706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26990" y="5638983"/>
            <a:ext cx="7855986" cy="4399352"/>
          </a:xfrm>
          <a:custGeom>
            <a:avLst/>
            <a:gdLst/>
            <a:ahLst/>
            <a:cxnLst/>
            <a:rect r="r" b="b" t="t" l="l"/>
            <a:pathLst>
              <a:path h="4399352" w="7855986">
                <a:moveTo>
                  <a:pt x="0" y="0"/>
                </a:moveTo>
                <a:lnTo>
                  <a:pt x="7855985" y="0"/>
                </a:lnTo>
                <a:lnTo>
                  <a:pt x="7855985" y="4399352"/>
                </a:lnTo>
                <a:lnTo>
                  <a:pt x="0" y="439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0265" y="3235855"/>
            <a:ext cx="6964033" cy="474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681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La actividad permitió trabajar en equipo siguiendo Scrum, entregar un incremento funcional de valor y reflexionar sobre el proceso de planificación, ejecución y mejora continua. La experiencia fortaleció la coordinación, la gestión de tareas y la comprensión de los eventos, roles y artefactos de Scrum, aportando aprendizajes prácticos que serán útiles en futuros proyectos.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9241" y="4680657"/>
            <a:ext cx="15114836" cy="228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9"/>
              </a:lnSpc>
            </a:pPr>
            <a:r>
              <a:rPr lang="en-US" sz="15074" spc="1326">
                <a:solidFill>
                  <a:srgbClr val="30220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509229" y="7331421"/>
            <a:ext cx="19557114" cy="3789191"/>
          </a:xfrm>
          <a:custGeom>
            <a:avLst/>
            <a:gdLst/>
            <a:ahLst/>
            <a:cxnLst/>
            <a:rect r="r" b="b" t="t" l="l"/>
            <a:pathLst>
              <a:path h="3789191" w="19557114">
                <a:moveTo>
                  <a:pt x="0" y="3789191"/>
                </a:moveTo>
                <a:lnTo>
                  <a:pt x="19557114" y="3789191"/>
                </a:lnTo>
                <a:lnTo>
                  <a:pt x="19557114" y="0"/>
                </a:lnTo>
                <a:lnTo>
                  <a:pt x="0" y="0"/>
                </a:lnTo>
                <a:lnTo>
                  <a:pt x="0" y="3789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09229" y="-665235"/>
            <a:ext cx="19557114" cy="3789191"/>
          </a:xfrm>
          <a:custGeom>
            <a:avLst/>
            <a:gdLst/>
            <a:ahLst/>
            <a:cxnLst/>
            <a:rect r="r" b="b" t="t" l="l"/>
            <a:pathLst>
              <a:path h="3789191" w="19557114">
                <a:moveTo>
                  <a:pt x="19557114" y="0"/>
                </a:moveTo>
                <a:lnTo>
                  <a:pt x="0" y="0"/>
                </a:lnTo>
                <a:lnTo>
                  <a:pt x="0" y="3789190"/>
                </a:lnTo>
                <a:lnTo>
                  <a:pt x="19557114" y="3789190"/>
                </a:lnTo>
                <a:lnTo>
                  <a:pt x="195571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1177" y="3308858"/>
            <a:ext cx="11025646" cy="182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8"/>
              </a:lnSpc>
            </a:pPr>
            <a:r>
              <a:rPr lang="en-US" sz="12099">
                <a:solidFill>
                  <a:srgbClr val="30220F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62522" y="8873946"/>
            <a:ext cx="339677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10"/>
              </a:lnSpc>
              <a:spcBef>
                <a:spcPct val="0"/>
              </a:spcBef>
            </a:pPr>
            <a:r>
              <a:rPr lang="en-US" b="true" sz="1700">
                <a:solidFill>
                  <a:srgbClr val="302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62522" y="9198431"/>
            <a:ext cx="339677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Estudio Shonos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6775"/>
            <a:ext cx="4756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10"/>
              </a:lnSpc>
              <a:spcBef>
                <a:spcPct val="0"/>
              </a:spcBef>
            </a:pPr>
            <a:r>
              <a:rPr lang="en-US" b="true" sz="1700">
                <a:solidFill>
                  <a:srgbClr val="30220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Presentado por: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91260"/>
            <a:ext cx="475668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>
                <a:solidFill>
                  <a:srgbClr val="30220F"/>
                </a:solidFill>
                <a:latin typeface="Open Sans"/>
                <a:ea typeface="Open Sans"/>
                <a:cs typeface="Open Sans"/>
                <a:sym typeface="Open Sans"/>
              </a:rPr>
              <a:t>Celia Márquez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DAG2Bf8XVLU</dc:identifier>
  <dcterms:modified xsi:type="dcterms:W3CDTF">2011-08-01T06:04:30Z</dcterms:modified>
  <cp:revision>1</cp:revision>
  <dc:title>Presentación Actividad 1</dc:title>
</cp:coreProperties>
</file>