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cb690928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cb690928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cb690928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cb690928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cb690928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cb690928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cb690928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cb690928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cb690928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cb690928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cb690928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cb690928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cb690928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cb690928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cb6909286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cb690928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cb690928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cb690928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cb6909286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cb690928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cb6909286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cb6909286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Georgia"/>
                <a:ea typeface="Georgia"/>
                <a:cs typeface="Georgia"/>
                <a:sym typeface="Georgia"/>
              </a:rPr>
              <a:t>PROYECTO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Georgia"/>
                <a:ea typeface="Georgia"/>
                <a:cs typeface="Georgia"/>
                <a:sym typeface="Georgia"/>
              </a:rPr>
              <a:t>                FINAL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Georgia"/>
                <a:ea typeface="Georgia"/>
                <a:cs typeface="Georgia"/>
                <a:sym typeface="Georgia"/>
              </a:rPr>
              <a:t>Efren Aaron Gomez Casimiro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Georgia"/>
                <a:ea typeface="Georgia"/>
                <a:cs typeface="Georgia"/>
                <a:sym typeface="Georgia"/>
              </a:rPr>
              <a:t>                        CLASES Y FUNCIONES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44050"/>
            <a:ext cx="3496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Tarea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Esta es la clase base para todas las tareas.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Guarda el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nombre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y el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departamento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al que pertenece la tarea.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Los métodos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equals()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hashCode()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se sobrescriben para asegurar que dos objetos </a:t>
            </a:r>
            <a:r>
              <a:rPr lang="es-419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Tarea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se consideren iguales si tienen el mismo nombre y departamento, lo cual es útil para su uso en colecciones como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HashSet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HashMap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 title="Captura de pantalla 2025-09-22 1049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100" y="1460250"/>
            <a:ext cx="4045500" cy="2677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4855700" y="474450"/>
            <a:ext cx="3554700" cy="394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TareaConPrioridad</a:t>
            </a:r>
            <a:endParaRPr b="1" sz="1400">
              <a:solidFill>
                <a:srgbClr val="18803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Esta clase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hereda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Tarea</a:t>
            </a:r>
            <a:r>
              <a:rPr lang="es-419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Añade dos nuevos atributos: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prioridad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 (un número del 1 al 3) y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fecha de entrega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Sobrescribe el método</a:t>
            </a:r>
            <a:r>
              <a:rPr lang="es-419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toString()</a:t>
            </a:r>
            <a:r>
              <a:rPr lang="es-419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para incluir la nueva información en la descripción de la tarea.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275" y="627075"/>
            <a:ext cx="3554701" cy="379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368725"/>
            <a:ext cx="3625200" cy="41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Empleado</a:t>
            </a:r>
            <a:endParaRPr b="1" sz="1600">
              <a:solidFill>
                <a:srgbClr val="18803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s-419" sz="1600">
                <a:latin typeface="Georgia"/>
                <a:ea typeface="Georgia"/>
                <a:cs typeface="Georgia"/>
                <a:sym typeface="Georgia"/>
              </a:rPr>
              <a:t>Representa a un empleado con un </a:t>
            </a:r>
            <a:r>
              <a:rPr b="1" lang="es-419" sz="1600">
                <a:latin typeface="Georgia"/>
                <a:ea typeface="Georgia"/>
                <a:cs typeface="Georgia"/>
                <a:sym typeface="Georgia"/>
              </a:rPr>
              <a:t>nombre</a:t>
            </a:r>
            <a:r>
              <a:rPr lang="es-419" sz="1600">
                <a:latin typeface="Georgia"/>
                <a:ea typeface="Georgia"/>
                <a:cs typeface="Georgia"/>
                <a:sym typeface="Georgia"/>
              </a:rPr>
              <a:t> y un </a:t>
            </a:r>
            <a:r>
              <a:rPr b="1" lang="es-419" sz="1600">
                <a:latin typeface="Georgia"/>
                <a:ea typeface="Georgia"/>
                <a:cs typeface="Georgia"/>
                <a:sym typeface="Georgia"/>
              </a:rPr>
              <a:t>departamento</a:t>
            </a:r>
            <a:r>
              <a:rPr lang="es-419" sz="1600">
                <a:latin typeface="Georgia"/>
                <a:ea typeface="Georgia"/>
                <a:cs typeface="Georgia"/>
                <a:sym typeface="Georgia"/>
              </a:rPr>
              <a:t>.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s-419" sz="1600">
                <a:latin typeface="Georgia"/>
                <a:ea typeface="Georgia"/>
                <a:cs typeface="Georgia"/>
                <a:sym typeface="Georgia"/>
              </a:rPr>
              <a:t>Contiene una lista de </a:t>
            </a:r>
            <a:r>
              <a:rPr b="1" lang="es-419" sz="1600">
                <a:latin typeface="Georgia"/>
                <a:ea typeface="Georgia"/>
                <a:cs typeface="Georgia"/>
                <a:sym typeface="Georgia"/>
              </a:rPr>
              <a:t>tareas asignadas</a:t>
            </a:r>
            <a:r>
              <a:rPr lang="es-419" sz="1600">
                <a:latin typeface="Georgia"/>
                <a:ea typeface="Georgia"/>
                <a:cs typeface="Georgia"/>
                <a:sym typeface="Georgia"/>
              </a:rPr>
              <a:t>, lo que permite llevar un registro de las responsabilidades de cada empleado.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100" y="439200"/>
            <a:ext cx="3625201" cy="368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4805300" y="509675"/>
            <a:ext cx="3519300" cy="39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GrafoTareas</a:t>
            </a:r>
            <a:endParaRPr b="1" sz="1400">
              <a:solidFill>
                <a:srgbClr val="18803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Implementa un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grafo dirigido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 para modelar las dependencias entre tareas.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adjList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: Es un </a:t>
            </a:r>
            <a:r>
              <a:rPr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HashMap</a:t>
            </a:r>
            <a:r>
              <a:rPr lang="es-419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donde cada tarea (</a:t>
            </a:r>
            <a:r>
              <a:rPr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clave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) se asocia con un</a:t>
            </a:r>
            <a:r>
              <a:rPr lang="es-419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HashSet</a:t>
            </a:r>
            <a:r>
              <a:rPr lang="es-419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de las tareas que dependen de ella (</a:t>
            </a:r>
            <a:r>
              <a:rPr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valor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).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agregarDependencia()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: Conecta dos tareas, indicando que una tarea dependiente no puede comenzar hasta que la tarea principal esté terminada.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mostrarGrafo()</a:t>
            </a:r>
            <a:r>
              <a:rPr lang="es-419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Imprime una representación de las dependencias.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600" y="1272975"/>
            <a:ext cx="3852024" cy="32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082725" y="380475"/>
            <a:ext cx="3660300" cy="40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ArbolBinarioEmpleados</a:t>
            </a:r>
            <a:endParaRPr b="1" sz="1400">
              <a:solidFill>
                <a:srgbClr val="18803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Implementa un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árbol binario de búsqueda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 para organizar a los empleados.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El ordenamiento se realiza por el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departamento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 del empleado.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insertar()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: Agrega un nuevo empleado al árbol en la posición correcta.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-419" sz="1400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buscarPorDepartamento()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: Permite encontrar de manera eficiente todos los empleados que pertenecen a un departamento específico.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425" y="152400"/>
            <a:ext cx="4096175" cy="43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Georgia"/>
                <a:ea typeface="Georgia"/>
                <a:cs typeface="Georgia"/>
                <a:sym typeface="Georgia"/>
              </a:rPr>
              <a:t>Estructuras utilizadas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32325"/>
            <a:ext cx="70389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Listas (</a:t>
            </a:r>
            <a:r>
              <a:rPr b="1"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ArrayList</a:t>
            </a:r>
            <a:r>
              <a:rPr b="1" lang="es-419" sz="192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1"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LinkedList</a:t>
            </a: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: Se usan para almacenar colecciones ordenadas de objetos, como las tareas asignadas a un empleado. </a:t>
            </a:r>
            <a:r>
              <a:rPr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ArrayList</a:t>
            </a:r>
            <a:r>
              <a:rPr lang="es-419" sz="192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es una lista dinámica, mientras que</a:t>
            </a:r>
            <a:r>
              <a:rPr lang="es-419" sz="192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LinkedList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 es eficiente para inserciones y eliminaciones en los extremos.</a:t>
            </a:r>
            <a:endParaRPr sz="1924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Colas de Prioridad (</a:t>
            </a:r>
            <a:r>
              <a:rPr b="1"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PriorityQueue</a:t>
            </a: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: Permite que las tareas se procesen según su prioridad, no por su orden de llegada. Esto es ideal para un sistema de gestión de tareas.</a:t>
            </a:r>
            <a:endParaRPr sz="1924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Pilas (</a:t>
            </a:r>
            <a:r>
              <a:rPr b="1"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Stack</a:t>
            </a: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: Esta estructura d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, se importa y se podría usar para una función como deshacer una acción.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e datos sigue el principio "último en entrar, primero en salir" (LIFO). Aunque no se usa directamente en este código</a:t>
            </a:r>
            <a:endParaRPr sz="1924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Mapas (</a:t>
            </a:r>
            <a:r>
              <a:rPr b="1"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HashMap</a:t>
            </a: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: Almacena pares de clave-valor. Se utiliza en el</a:t>
            </a:r>
            <a:r>
              <a:rPr lang="es-419" sz="192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GrafoTareas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 para mapear una tarea a un conjunto de otras tareas de las que depende, lo que permite una búsqueda rápida.</a:t>
            </a:r>
            <a:endParaRPr sz="1924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Conjuntos (</a:t>
            </a:r>
            <a:r>
              <a:rPr b="1"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HashSet</a:t>
            </a: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: Almacena elementos únicos sin un orden específico. Se usa en el</a:t>
            </a:r>
            <a:r>
              <a:rPr lang="es-419" sz="192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GrafoTareas</a:t>
            </a:r>
            <a:r>
              <a:rPr lang="es-419" sz="192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para guardar las tareas dependientes de una tarea principal, asegurando que no haya duplicados.</a:t>
            </a:r>
            <a:endParaRPr sz="1924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Árboles Binarios de Búsqueda (</a:t>
            </a:r>
            <a:r>
              <a:rPr b="1" lang="es-419" sz="1924">
                <a:solidFill>
                  <a:srgbClr val="188038"/>
                </a:solidFill>
                <a:latin typeface="Georgia"/>
                <a:ea typeface="Georgia"/>
                <a:cs typeface="Georgia"/>
                <a:sym typeface="Georgia"/>
              </a:rPr>
              <a:t>ArbolBinarioEmpleados</a:t>
            </a:r>
            <a:r>
              <a:rPr b="1" lang="es-419" sz="1924"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lang="es-419" sz="1924">
                <a:latin typeface="Georgia"/>
                <a:ea typeface="Georgia"/>
                <a:cs typeface="Georgia"/>
                <a:sym typeface="Georgia"/>
              </a:rPr>
              <a:t>: Esta estructura de datos jerárquica almacena los empleados de forma organizada, permitiendo una búsqueda, inserción y eliminación eficiente. En este caso, se ordenan por departamento para facilitar la búsqueda.</a:t>
            </a:r>
            <a:endParaRPr sz="1924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Georgia"/>
                <a:ea typeface="Georgia"/>
                <a:cs typeface="Georgia"/>
                <a:sym typeface="Georgia"/>
              </a:rPr>
              <a:t>                          </a:t>
            </a:r>
            <a:r>
              <a:rPr lang="es-419">
                <a:latin typeface="Georgia"/>
                <a:ea typeface="Georgia"/>
                <a:cs typeface="Georgia"/>
                <a:sym typeface="Georgia"/>
              </a:rPr>
              <a:t>FUNCIÓN</a:t>
            </a:r>
            <a:r>
              <a:rPr lang="es-419">
                <a:latin typeface="Georgia"/>
                <a:ea typeface="Georgia"/>
                <a:cs typeface="Georgia"/>
                <a:sym typeface="Georgia"/>
              </a:rPr>
              <a:t> GENERAL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En general, el código demuestra cómo se pueden usar las estructuras de datos para modelar un sistema complejo de gestión. Puedes: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Crear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tareas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 de diferentes tipos (simples o con prioridad).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Crear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empleados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 y asignarles tareas.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Organizar a los empleados en un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árbol binario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 para búsquedas rápidas por departamento.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Definir las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dependencias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 entre tareas usando un </a:t>
            </a:r>
            <a:r>
              <a:rPr b="1" lang="es-419" sz="1400">
                <a:latin typeface="Georgia"/>
                <a:ea typeface="Georgia"/>
                <a:cs typeface="Georgia"/>
                <a:sym typeface="Georgia"/>
              </a:rPr>
              <a:t>grafo</a:t>
            </a: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>
                <a:latin typeface="Georgia"/>
                <a:ea typeface="Georgia"/>
                <a:cs typeface="Georgia"/>
                <a:sym typeface="Georgia"/>
              </a:rPr>
              <a:t>El código es un ejemplo robusto y bien estructurado que muestra la aplicación práctica de conceptos avanzados de programación y estructuras de datos.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/>
        </p:nvSpPr>
        <p:spPr>
          <a:xfrm>
            <a:off x="1470250" y="274775"/>
            <a:ext cx="685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                    </a:t>
            </a:r>
            <a:r>
              <a:rPr lang="es-419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FUNCIÓN</a:t>
            </a:r>
            <a:r>
              <a:rPr lang="es-419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s-419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CÓDIGO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250" y="1073200"/>
            <a:ext cx="6589378" cy="370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400" y="380475"/>
            <a:ext cx="7566125" cy="441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125" y="497900"/>
            <a:ext cx="7339474" cy="434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1743700" y="1321425"/>
            <a:ext cx="4306200" cy="14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Georgia"/>
                <a:ea typeface="Georgia"/>
                <a:cs typeface="Georgia"/>
                <a:sym typeface="Georgia"/>
              </a:rPr>
              <a:t>GRACIAS POR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Georgia"/>
                <a:ea typeface="Georgia"/>
                <a:cs typeface="Georgia"/>
                <a:sym typeface="Georgia"/>
              </a:rPr>
              <a:t>                      SU </a:t>
            </a:r>
            <a:r>
              <a:rPr lang="es-419">
                <a:latin typeface="Georgia"/>
                <a:ea typeface="Georgia"/>
                <a:cs typeface="Georgia"/>
                <a:sym typeface="Georgia"/>
              </a:rPr>
              <a:t>ATENCIÓN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5298500" y="3010950"/>
            <a:ext cx="3249300" cy="9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latin typeface="Georgia"/>
                <a:ea typeface="Georgia"/>
                <a:cs typeface="Georgia"/>
                <a:sym typeface="Georgia"/>
              </a:rPr>
              <a:t>Con esto concluyo la </a:t>
            </a:r>
            <a:r>
              <a:rPr lang="es-419">
                <a:latin typeface="Georgia"/>
                <a:ea typeface="Georgia"/>
                <a:cs typeface="Georgia"/>
                <a:sym typeface="Georgia"/>
              </a:rPr>
              <a:t>presentación</a:t>
            </a:r>
            <a:r>
              <a:rPr lang="es-419">
                <a:latin typeface="Georgia"/>
                <a:ea typeface="Georgia"/>
                <a:cs typeface="Georgia"/>
                <a:sym typeface="Georgia"/>
              </a:rPr>
              <a:t> de mi </a:t>
            </a:r>
            <a:r>
              <a:rPr lang="es-419">
                <a:latin typeface="Georgia"/>
                <a:ea typeface="Georgia"/>
                <a:cs typeface="Georgia"/>
                <a:sym typeface="Georgia"/>
              </a:rPr>
              <a:t>código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